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4309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7FA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058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FIRCO CONTINUITY V6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DA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(FIRCOSOFT V6)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943600" cy="54864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06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Technology Stack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Sanctions Screening Platform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 |  COMPLIANCE  |  REAL-TIME SCREENING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371600" cy="82296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5" name="Text 3"/>
          <p:cNvSpPr/>
          <p:nvPr/>
        </p:nvSpPr>
        <p:spPr>
          <a:xfrm>
            <a:off x="36576" y="731520"/>
            <a:ext cx="12984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ACCESS LAYER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1572768"/>
            <a:ext cx="1371600" cy="777240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7" name="Text 5"/>
          <p:cNvSpPr/>
          <p:nvPr/>
        </p:nvSpPr>
        <p:spPr>
          <a:xfrm>
            <a:off x="36576" y="1618488"/>
            <a:ext cx="12984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2414016"/>
            <a:ext cx="1371600" cy="685800"/>
          </a:xfrm>
          <a:prstGeom prst="rect">
            <a:avLst/>
          </a:prstGeom>
          <a:solidFill>
            <a:srgbClr val="1A7FA4"/>
          </a:solidFill>
          <a:ln/>
        </p:spPr>
      </p:sp>
      <p:sp>
        <p:nvSpPr>
          <p:cNvPr id="9" name="Text 7"/>
          <p:cNvSpPr/>
          <p:nvPr/>
        </p:nvSpPr>
        <p:spPr>
          <a:xfrm>
            <a:off x="36576" y="2459736"/>
            <a:ext cx="12984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QUEUING LAYER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0" y="3163824"/>
            <a:ext cx="1371600" cy="8229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" y="3209544"/>
            <a:ext cx="12984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STORAGE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0" y="4050792"/>
            <a:ext cx="1371600" cy="62179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" y="4096512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0" y="4727448"/>
            <a:ext cx="1371600" cy="338328"/>
          </a:xfrm>
          <a:prstGeom prst="rect">
            <a:avLst/>
          </a:prstGeom>
          <a:solidFill>
            <a:srgbClr val="8899B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" y="4773168"/>
            <a:ext cx="12984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417320" y="685800"/>
            <a:ext cx="6858000" cy="822960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17" name="Shape 15"/>
          <p:cNvSpPr/>
          <p:nvPr/>
        </p:nvSpPr>
        <p:spPr>
          <a:xfrm>
            <a:off x="1508760" y="758952"/>
            <a:ext cx="1600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508760" y="75895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UI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218688" y="758952"/>
            <a:ext cx="1600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18688" y="75895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MANAGEMENT UI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928616" y="758952"/>
            <a:ext cx="1600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28616" y="75895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UI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638544" y="758952"/>
            <a:ext cx="1600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38544" y="75895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API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61790" y="1220754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417320" y="1572768"/>
            <a:ext cx="6858000" cy="777240"/>
          </a:xfrm>
          <a:prstGeom prst="rect">
            <a:avLst/>
          </a:prstGeom>
          <a:solidFill>
            <a:srgbClr val="E2EBF5"/>
          </a:solidFill>
          <a:ln/>
        </p:spPr>
      </p:sp>
      <p:sp>
        <p:nvSpPr>
          <p:cNvPr id="27" name="Shape 25"/>
          <p:cNvSpPr/>
          <p:nvPr/>
        </p:nvSpPr>
        <p:spPr>
          <a:xfrm>
            <a:off x="1490472" y="1636776"/>
            <a:ext cx="89611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490472" y="1636776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FIRCO WEB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490472" y="1984248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1A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JDK 11+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468880" y="1636776"/>
            <a:ext cx="89611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468880" y="1636776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MGMT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2468880" y="1984248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1A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3447288" y="1636776"/>
            <a:ext cx="89611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447288" y="1636776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3447288" y="1984248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1A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4425696" y="1636776"/>
            <a:ext cx="89611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425696" y="1636776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4425696" y="1984248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1A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5404104" y="1636776"/>
            <a:ext cx="89611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404104" y="1636776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5404104" y="1984248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1A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JAX-RS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6382512" y="1636776"/>
            <a:ext cx="89611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382512" y="1636776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6382512" y="1984248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1A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JAX-RS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7360920" y="1636776"/>
            <a:ext cx="89611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360920" y="1636776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7360920" y="1984248"/>
            <a:ext cx="89611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1A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1417320" y="2414016"/>
            <a:ext cx="6858000" cy="685800"/>
          </a:xfrm>
          <a:prstGeom prst="rect">
            <a:avLst/>
          </a:prstGeom>
          <a:solidFill>
            <a:srgbClr val="D7EBE2"/>
          </a:solidFill>
          <a:ln/>
        </p:spPr>
      </p:sp>
      <p:sp>
        <p:nvSpPr>
          <p:cNvPr id="49" name="Shape 47"/>
          <p:cNvSpPr/>
          <p:nvPr/>
        </p:nvSpPr>
        <p:spPr>
          <a:xfrm>
            <a:off x="1490472" y="2487168"/>
            <a:ext cx="1280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90472" y="248716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017520" y="2487168"/>
            <a:ext cx="2926080" cy="50292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17520" y="248716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/ ACTIVEMQ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080760" y="2487168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80760" y="248716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417320" y="3163824"/>
            <a:ext cx="4846320" cy="822960"/>
          </a:xfrm>
          <a:prstGeom prst="rect">
            <a:avLst/>
          </a:prstGeom>
          <a:solidFill>
            <a:srgbClr val="E9F0FB"/>
          </a:solidFill>
          <a:ln/>
        </p:spPr>
      </p:sp>
      <p:sp>
        <p:nvSpPr>
          <p:cNvPr id="56" name="Text 54"/>
          <p:cNvSpPr/>
          <p:nvPr/>
        </p:nvSpPr>
        <p:spPr>
          <a:xfrm>
            <a:off x="1463040" y="317296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FIRCOSOFT DATABASE  (Oracle 19c / MS SQL Server 2019 / PostgreSQL)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508760" y="3374136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508760" y="3374136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LISTS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3063240" y="3374136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063240" y="3374136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DATA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617720" y="3374136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17720" y="3374136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DATA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6355080" y="3163824"/>
            <a:ext cx="1920240" cy="822960"/>
          </a:xfrm>
          <a:prstGeom prst="rect">
            <a:avLst/>
          </a:prstGeom>
          <a:solidFill>
            <a:srgbClr val="FFF3DC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55080" y="32278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355080" y="36301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Index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1417320" y="4050792"/>
            <a:ext cx="6858000" cy="621792"/>
          </a:xfrm>
          <a:prstGeom prst="rect">
            <a:avLst/>
          </a:prstGeom>
          <a:solidFill>
            <a:srgbClr val="FEF4E4"/>
          </a:solidFill>
          <a:ln/>
        </p:spPr>
      </p:sp>
      <p:sp>
        <p:nvSpPr>
          <p:cNvPr id="67" name="Shape 65"/>
          <p:cNvSpPr/>
          <p:nvPr/>
        </p:nvSpPr>
        <p:spPr>
          <a:xfrm>
            <a:off x="1490472" y="4114800"/>
            <a:ext cx="12435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490472" y="4114800"/>
            <a:ext cx="1243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2862072" y="4114800"/>
            <a:ext cx="12435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862072" y="4114800"/>
            <a:ext cx="1243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HUBS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(SWIFT, ACH)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4233672" y="4114800"/>
            <a:ext cx="12435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233672" y="4114800"/>
            <a:ext cx="1243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5605272" y="4114800"/>
            <a:ext cx="12435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605272" y="4114800"/>
            <a:ext cx="1243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TRANSFER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(SFTP)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6976872" y="4114800"/>
            <a:ext cx="12435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976872" y="4114800"/>
            <a:ext cx="1243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1417320" y="4727448"/>
            <a:ext cx="6858000" cy="338328"/>
          </a:xfrm>
          <a:prstGeom prst="rect">
            <a:avLst/>
          </a:prstGeom>
          <a:solidFill>
            <a:srgbClr val="E4E8EF"/>
          </a:solidFill>
          <a:ln/>
        </p:spPr>
      </p:sp>
      <p:sp>
        <p:nvSpPr>
          <p:cNvPr id="78" name="Text 76"/>
          <p:cNvSpPr/>
          <p:nvPr/>
        </p:nvSpPr>
        <p:spPr>
          <a:xfrm>
            <a:off x="1417320" y="477316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/ VIRTUAL MACHINES  ·  KUBERNETES / DOCKER  ·  HIGH AVAILABILITY  ·  LOAD BALANCING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8321040" y="685800"/>
            <a:ext cx="777240" cy="4379976"/>
          </a:xfrm>
          <a:prstGeom prst="rect">
            <a:avLst/>
          </a:prstGeom>
          <a:solidFill>
            <a:srgbClr val="EFF3FB"/>
          </a:solidFill>
          <a:ln w="6350">
            <a:solidFill>
              <a:srgbClr val="8899B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339328" y="77724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SSO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8339328" y="182880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SSL/TLS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8339328" y="288036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ELK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8339328" y="393192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8339328" y="69494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b="1" kern="0" spc="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SERVICES</a:t>
            </a:r>
            <a:endParaRPr 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— COMPONENTS &amp; TECHNOLOGIES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2880" y="731520"/>
            <a:ext cx="2103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31520"/>
            <a:ext cx="2103120" cy="7315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412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Firco Web Service (FWS)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43584"/>
            <a:ext cx="1463040" cy="219456"/>
          </a:xfrm>
          <a:prstGeom prst="rect">
            <a:avLst/>
          </a:prstGeom>
          <a:solidFill>
            <a:srgbClr val="D6E4F5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4358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JDK 11+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1517904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 service handling request routing and orchestration for sanctions screening workflows.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14016" y="731520"/>
            <a:ext cx="2103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14016" y="731520"/>
            <a:ext cx="2103120" cy="7315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2" name="Text 10"/>
          <p:cNvSpPr/>
          <p:nvPr/>
        </p:nvSpPr>
        <p:spPr>
          <a:xfrm>
            <a:off x="2505456" y="8412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Case Management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05456" y="1243584"/>
            <a:ext cx="1463040" cy="219456"/>
          </a:xfrm>
          <a:prstGeom prst="rect">
            <a:avLst/>
          </a:prstGeom>
          <a:solidFill>
            <a:srgbClr val="D6E4F5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05456" y="124358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05456" y="1517904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alert queues, case assignments, analyst workflows and resolution tracking.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45152" y="731520"/>
            <a:ext cx="2103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45152" y="731520"/>
            <a:ext cx="2103120" cy="7315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8" name="Text 16"/>
          <p:cNvSpPr/>
          <p:nvPr/>
        </p:nvSpPr>
        <p:spPr>
          <a:xfrm>
            <a:off x="4736592" y="8412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36592" y="1243584"/>
            <a:ext cx="1463040" cy="219456"/>
          </a:xfrm>
          <a:prstGeom prst="rect">
            <a:avLst/>
          </a:prstGeom>
          <a:solidFill>
            <a:srgbClr val="D6E4F5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24358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 Workflow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36592" y="1517904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rule sets for screening logic, threshold management and compliance policies.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76288" y="731520"/>
            <a:ext cx="2103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76288" y="731520"/>
            <a:ext cx="2103120" cy="7315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24" name="Text 22"/>
          <p:cNvSpPr/>
          <p:nvPr/>
        </p:nvSpPr>
        <p:spPr>
          <a:xfrm>
            <a:off x="6967728" y="8412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Service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67728" y="1243584"/>
            <a:ext cx="1463040" cy="219456"/>
          </a:xfrm>
          <a:prstGeom prst="rect">
            <a:avLst/>
          </a:prstGeom>
          <a:solidFill>
            <a:srgbClr val="D6E4F5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67728" y="124358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ORM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967728" y="1517904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 capturing all screening decisions, overrides, and user actions.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2880" y="2606040"/>
            <a:ext cx="2103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2606040"/>
            <a:ext cx="2103120" cy="7315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27157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Management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118104"/>
            <a:ext cx="1463040" cy="219456"/>
          </a:xfrm>
          <a:prstGeom prst="rect">
            <a:avLst/>
          </a:prstGeom>
          <a:solidFill>
            <a:srgbClr val="D6E4F5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11810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JAX-RS (REST)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4320" y="3392424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sanctions list ingestion, updates and normalization from UN, EU, OFAC providers.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414016" y="2606040"/>
            <a:ext cx="2103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414016" y="2606040"/>
            <a:ext cx="2103120" cy="7315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36" name="Text 34"/>
          <p:cNvSpPr/>
          <p:nvPr/>
        </p:nvSpPr>
        <p:spPr>
          <a:xfrm>
            <a:off x="2505456" y="27157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Engine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05456" y="3118104"/>
            <a:ext cx="1463040" cy="219456"/>
          </a:xfrm>
          <a:prstGeom prst="rect">
            <a:avLst/>
          </a:prstGeom>
          <a:solidFill>
            <a:srgbClr val="D6E4F5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05456" y="311810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JAX-RS (REST)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505456" y="3392424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multi-step review processes, escalation paths and SLA management.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45152" y="2606040"/>
            <a:ext cx="2103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45152" y="2606040"/>
            <a:ext cx="2103120" cy="7315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42" name="Text 40"/>
          <p:cNvSpPr/>
          <p:nvPr/>
        </p:nvSpPr>
        <p:spPr>
          <a:xfrm>
            <a:off x="4736592" y="271576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Service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36592" y="3118104"/>
            <a:ext cx="1463040" cy="219456"/>
          </a:xfrm>
          <a:prstGeom prst="rect">
            <a:avLst/>
          </a:prstGeom>
          <a:solidFill>
            <a:srgbClr val="D6E4F5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311810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36592" y="3392424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search-powered reporting with advanced query capabilities and dashboards.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STORAGE &amp; MESSAGING LAYER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&amp; QUEUING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029200" cy="1188720"/>
          </a:xfrm>
          <a:prstGeom prst="rect">
            <a:avLst/>
          </a:prstGeom>
          <a:solidFill>
            <a:srgbClr val="D7EBE2"/>
          </a:solidFill>
          <a:ln w="19050">
            <a:solidFill>
              <a:srgbClr val="2E7D5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78992"/>
            <a:ext cx="157276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97280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Ingestion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84048" y="1371600"/>
            <a:ext cx="149961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for all incoming transaction messages from core banking and payment systems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039112" y="1078992"/>
            <a:ext cx="157276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75688" y="1097280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/ ActiveMQ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075688" y="1371600"/>
            <a:ext cx="149961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High-throughput, fault-tolerant message broker for async screening pipeline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730752" y="1078992"/>
            <a:ext cx="157276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7328" y="1097280"/>
            <a:ext cx="1499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Processing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767328" y="1371600"/>
            <a:ext cx="149961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screening execution allowing high-volume real-time throughput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74320" y="2331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STORAGE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633472"/>
            <a:ext cx="5029200" cy="2176272"/>
          </a:xfrm>
          <a:prstGeom prst="rect">
            <a:avLst/>
          </a:prstGeom>
          <a:solidFill>
            <a:srgbClr val="E9F0FB"/>
          </a:solidFill>
          <a:ln w="19050">
            <a:solidFill>
              <a:srgbClr val="1E3A6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2679192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FIRCOSOFT DATABASE  ·  RDBMS: Oracle 19c / MS SQL Server 2019 / PostgreSQL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47472" y="2953512"/>
            <a:ext cx="157276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2953512"/>
            <a:ext cx="1572768" cy="27432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295351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Lists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4048" y="3264408"/>
            <a:ext cx="1499616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and historical lists from UN, EU, OFAC and custom watchlists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039112" y="2953512"/>
            <a:ext cx="157276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39112" y="2953512"/>
            <a:ext cx="1572768" cy="27432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24" name="Text 22"/>
          <p:cNvSpPr/>
          <p:nvPr/>
        </p:nvSpPr>
        <p:spPr>
          <a:xfrm>
            <a:off x="2039112" y="295351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075688" y="3264408"/>
            <a:ext cx="1499616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record of all screened messages, matches and dispositions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730752" y="2953512"/>
            <a:ext cx="157276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30752" y="2953512"/>
            <a:ext cx="1572768" cy="27432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28" name="Text 26"/>
          <p:cNvSpPr/>
          <p:nvPr/>
        </p:nvSpPr>
        <p:spPr>
          <a:xfrm>
            <a:off x="3730752" y="295351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Data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767328" y="3264408"/>
            <a:ext cx="1499616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compliance trail for regulatory reporting and review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77840" y="7132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FILE STORAGE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77840" y="1005840"/>
            <a:ext cx="3383280" cy="1920240"/>
          </a:xfrm>
          <a:prstGeom prst="rect">
            <a:avLst/>
          </a:prstGeom>
          <a:solidFill>
            <a:srgbClr val="FFF3DC"/>
          </a:solidFill>
          <a:ln w="19050">
            <a:solidFill>
              <a:srgbClr val="E8A0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669280" y="106070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CLUSTER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0" y="13716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Index
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fast full-text search across alerts, audit logs, and transaction history. Hibernate JDBC used for persistence integration.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577840" y="3017520"/>
            <a:ext cx="3383280" cy="1783080"/>
          </a:xfrm>
          <a:prstGeom prst="rect">
            <a:avLst/>
          </a:prstGeom>
          <a:solidFill>
            <a:srgbClr val="F2F4F8"/>
          </a:solidFill>
          <a:ln w="19050">
            <a:solidFill>
              <a:srgbClr val="8899B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669280" y="30723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 / SAN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69280" y="3383280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Log Storage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Network-attached storage for system configuration files, log archives, and compliance exports. Ensures durable, high-availability storage for audit artifacts.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INTEGRATIONS, EXTERNAL RESOURCES &amp; CROSS-CUTTING SERVICES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/ CONNECTORS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1691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1691640" cy="54864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078992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Systems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(CBS)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1444752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integration with core banking for real-time transaction screening before settlement.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103120" y="987552"/>
            <a:ext cx="1691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03120" y="987552"/>
            <a:ext cx="1691640" cy="54864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1" name="Text 9"/>
          <p:cNvSpPr/>
          <p:nvPr/>
        </p:nvSpPr>
        <p:spPr>
          <a:xfrm>
            <a:off x="2176272" y="1078992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Hubs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(SWIFT, ACH)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176272" y="1444752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MT/MX and ACH payment message interception and screening.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931920" y="987552"/>
            <a:ext cx="1691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931920" y="987552"/>
            <a:ext cx="1691640" cy="54864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5" name="Text 13"/>
          <p:cNvSpPr/>
          <p:nvPr/>
        </p:nvSpPr>
        <p:spPr>
          <a:xfrm>
            <a:off x="4005072" y="1078992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Systems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005072" y="1444752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SOAP/REST API and message queues (MQ) for enterprise system integration.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2221992"/>
            <a:ext cx="1691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221992"/>
            <a:ext cx="1691640" cy="54864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2313432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Transfer (SFTP)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" y="2679192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screening via secure file transfer for bulk message processing.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103120" y="2221992"/>
            <a:ext cx="1691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103120" y="2221992"/>
            <a:ext cx="1691640" cy="54864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3" name="Text 21"/>
          <p:cNvSpPr/>
          <p:nvPr/>
        </p:nvSpPr>
        <p:spPr>
          <a:xfrm>
            <a:off x="2176272" y="2313432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Connectors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176272" y="2679192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 architecture supporting custom connectors for proprietary systems.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74320" y="347472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RESOURCES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767328"/>
            <a:ext cx="1691640" cy="822960"/>
          </a:xfrm>
          <a:prstGeom prst="rect">
            <a:avLst/>
          </a:prstGeom>
          <a:solidFill>
            <a:srgbClr val="D6F0F0"/>
          </a:solidFill>
          <a:ln w="12700">
            <a:solidFill>
              <a:srgbClr val="1A7F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794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List Providers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413308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UN, EU, OFAC, HMT and more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103120" y="3767328"/>
            <a:ext cx="1691640" cy="822960"/>
          </a:xfrm>
          <a:prstGeom prst="rect">
            <a:avLst/>
          </a:prstGeom>
          <a:solidFill>
            <a:srgbClr val="D6F0F0"/>
          </a:solidFill>
          <a:ln w="12700">
            <a:solidFill>
              <a:srgbClr val="1A7F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76272" y="3794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Watchlists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176272" y="413308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and 3rd-party watchlist updates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931920" y="3767328"/>
            <a:ext cx="1691640" cy="822960"/>
          </a:xfrm>
          <a:prstGeom prst="rect">
            <a:avLst/>
          </a:prstGeom>
          <a:solidFill>
            <a:srgbClr val="D6F0F0"/>
          </a:solidFill>
          <a:ln w="12700">
            <a:solidFill>
              <a:srgbClr val="1A7F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05072" y="3794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Management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005072" y="413308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ingestion &amp; refresh pipeline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760720" y="6949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SERVICES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60720" y="987552"/>
            <a:ext cx="32004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760720" y="987552"/>
            <a:ext cx="64008" cy="877824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8" name="Text 36"/>
          <p:cNvSpPr/>
          <p:nvPr/>
        </p:nvSpPr>
        <p:spPr>
          <a:xfrm>
            <a:off x="5888736" y="10058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/ SSO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88736" y="129844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&amp; SAML integration for enterprise single sign-on and role-based access control.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760720" y="1993392"/>
            <a:ext cx="32004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760720" y="1993392"/>
            <a:ext cx="64008" cy="877824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42" name="Text 40"/>
          <p:cNvSpPr/>
          <p:nvPr/>
        </p:nvSpPr>
        <p:spPr>
          <a:xfrm>
            <a:off x="5888736" y="20116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(SSL/TLS)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888736" y="230428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 for all API and service communication channels.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760720" y="2999232"/>
            <a:ext cx="32004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760720" y="2999232"/>
            <a:ext cx="64008" cy="877824"/>
          </a:xfrm>
          <a:prstGeom prst="rect">
            <a:avLst/>
          </a:prstGeom>
          <a:solidFill>
            <a:srgbClr val="1A7FA4"/>
          </a:solidFill>
          <a:ln/>
        </p:spPr>
      </p:sp>
      <p:sp>
        <p:nvSpPr>
          <p:cNvPr id="46" name="Text 44"/>
          <p:cNvSpPr/>
          <p:nvPr/>
        </p:nvSpPr>
        <p:spPr>
          <a:xfrm>
            <a:off x="5888736" y="30175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(ELK Stack)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888736" y="33101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Elasticsearch, Logstash, Kibana for centralized log aggregation and analysis.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760720" y="4005072"/>
            <a:ext cx="32004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760720" y="4005072"/>
            <a:ext cx="64008" cy="877824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50" name="Text 48"/>
          <p:cNvSpPr/>
          <p:nvPr/>
        </p:nvSpPr>
        <p:spPr>
          <a:xfrm>
            <a:off x="5888736" y="40233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888736" y="431596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metrics collection with Grafana dashboards for real-time observability.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DEPLOYMENT &amp; SUMMARY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2743200" cy="1600200"/>
          </a:xfrm>
          <a:prstGeom prst="rect">
            <a:avLst/>
          </a:prstGeom>
          <a:solidFill>
            <a:srgbClr val="162245"/>
          </a:solidFill>
          <a:ln w="19050">
            <a:solidFill>
              <a:srgbClr val="1A7FA4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31520"/>
            <a:ext cx="2743200" cy="73152"/>
          </a:xfrm>
          <a:prstGeom prst="rect">
            <a:avLst/>
          </a:prstGeom>
          <a:solidFill>
            <a:srgbClr val="1A7FA4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859536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/ Virtual Machines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048" y="1261872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on Linux and Windows hosts — on-premise or cloud VMs for maximum flexibility.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0" y="731520"/>
            <a:ext cx="2743200" cy="1600200"/>
          </a:xfrm>
          <a:prstGeom prst="rect">
            <a:avLst/>
          </a:prstGeom>
          <a:solidFill>
            <a:srgbClr val="162245"/>
          </a:solidFill>
          <a:ln w="19050">
            <a:solidFill>
              <a:srgbClr val="2E5FA3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731520"/>
            <a:ext cx="2743200" cy="73152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0" name="Text 8"/>
          <p:cNvSpPr/>
          <p:nvPr/>
        </p:nvSpPr>
        <p:spPr>
          <a:xfrm>
            <a:off x="3310128" y="859536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10128" y="1261872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and Docker support for containerized deployment, microservices scaling and CI/CD pipelines.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26480" y="731520"/>
            <a:ext cx="2743200" cy="1600200"/>
          </a:xfrm>
          <a:prstGeom prst="rect">
            <a:avLst/>
          </a:prstGeom>
          <a:solidFill>
            <a:srgbClr val="162245"/>
          </a:solidFill>
          <a:ln w="19050">
            <a:solidFill>
              <a:srgbClr val="2E7D52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731520"/>
            <a:ext cx="2743200" cy="73152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14" name="Text 12"/>
          <p:cNvSpPr/>
          <p:nvPr/>
        </p:nvSpPr>
        <p:spPr>
          <a:xfrm>
            <a:off x="6236208" y="859536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36208" y="1261872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Active-active clustering, failover, and replication strategies to ensure 99.99% uptime SLA compliance.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560320"/>
            <a:ext cx="2743200" cy="1600200"/>
          </a:xfrm>
          <a:prstGeom prst="rect">
            <a:avLst/>
          </a:prstGeom>
          <a:solidFill>
            <a:srgbClr val="162245"/>
          </a:solidFill>
          <a:ln w="19050">
            <a:solidFill>
              <a:srgbClr val="E8A020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560320"/>
            <a:ext cx="2743200" cy="7315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2688336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4048" y="3090672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traffic distribution across service nodes to optimize throughput under peak screening loads.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0" y="2560320"/>
            <a:ext cx="2743200" cy="1600200"/>
          </a:xfrm>
          <a:prstGeom prst="rect">
            <a:avLst/>
          </a:prstGeom>
          <a:solidFill>
            <a:srgbClr val="162245"/>
          </a:solidFill>
          <a:ln w="19050">
            <a:solidFill>
              <a:srgbClr val="1E3A6E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560320"/>
            <a:ext cx="2743200" cy="73152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22" name="Text 20"/>
          <p:cNvSpPr/>
          <p:nvPr/>
        </p:nvSpPr>
        <p:spPr>
          <a:xfrm>
            <a:off x="3310128" y="2688336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10128" y="3090672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scale-out architecture supports millions of messages per day without performance degradation.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718304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Firco Continuity V6  ·  Enterprise Sanctions Screening  ·  Java / Spring Boot / Kafka / Elasticsearch / Kubernetes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751</Words>
  <Application>Microsoft Office PowerPoint</Application>
  <PresentationFormat>On-screen Show (16:9)</PresentationFormat>
  <Paragraphs>165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Firco Continuity V6 Architecture &amp; Tech Stack</dc:title>
  <dc:subject>PptxGenJS Presentation</dc:subject>
  <dc:creator>PptxGenJS</dc:creator>
  <cp:lastModifiedBy>Vignesh Ravishankar</cp:lastModifiedBy>
  <cp:revision>2</cp:revision>
  <dcterms:created xsi:type="dcterms:W3CDTF">2026-04-05T06:15:17Z</dcterms:created>
  <dcterms:modified xsi:type="dcterms:W3CDTF">2026-04-05T07:13:45Z</dcterms:modified>
</cp:coreProperties>
</file>